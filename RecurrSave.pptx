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548640" y="521208"/>
            <a:ext cx="438912" cy="54864"/>
          </a:xfrm>
          <a:prstGeom prst="rect">
            <a:avLst/>
          </a:prstGeom>
          <a:solidFill>
            <a:srgbClr val="9A65D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200" b="1">
                <a:solidFill>
                  <a:srgbClr val="655A75"/>
                </a:solidFill>
                <a:latin typeface="Arial"/>
              </a:rPr>
              <a:t>RECURRSAVE  /  INBOX TO INTEREST</a:t>
            </a:r>
            <a:endParaRPr lang="en-GB" sz="1200"/>
          </a:p>
        </p:txBody>
      </p:sp>
      <p:sp>
        <p:nvSpPr>
          <p:cNvPr id="10" name="Text 10"/>
          <p:cNvSpPr txBox="1"/>
          <p:nvPr/>
        </p:nvSpPr>
        <p:spPr>
          <a:xfrm>
            <a:off x="548640" y="1645920"/>
            <a:ext cx="64008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4800" b="1">
                <a:solidFill>
                  <a:srgbClr val="281B3A"/>
                </a:solidFill>
                <a:latin typeface="Arial"/>
              </a:rPr>
              <a:t>Small receipts.</a:t>
            </a:r>
            <a:endParaRPr lang="en-GB" sz="4800"/>
          </a:p>
          <a:p>
            <a:pPr/>
            <a:r>
              <a:rPr lang="en-GB" sz="4800" b="1">
                <a:solidFill>
                  <a:srgbClr val="281B3A"/>
                </a:solidFill>
                <a:latin typeface="Arial"/>
              </a:rPr>
              <a:t>Big dreams.</a:t>
            </a:r>
            <a:endParaRPr lang="en-GB" sz="4800"/>
          </a:p>
        </p:txBody>
      </p:sp>
      <p:sp>
        <p:nvSpPr>
          <p:cNvPr id="11" name="Text 11"/>
          <p:cNvSpPr txBox="1"/>
          <p:nvPr/>
        </p:nvSpPr>
        <p:spPr>
          <a:xfrm>
            <a:off x="548640" y="3493008"/>
            <a:ext cx="576072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400" b="0">
                <a:solidFill>
                  <a:srgbClr val="655A75"/>
                </a:solidFill>
                <a:latin typeface="Arial"/>
              </a:rPr>
              <a:t>Turn everyday purchases into</a:t>
            </a:r>
            <a:endParaRPr lang="en-GB" sz="2400"/>
          </a:p>
          <a:p>
            <a:pPr/>
            <a:r>
              <a:rPr lang="en-GB" sz="2400" b="0">
                <a:solidFill>
                  <a:srgbClr val="655A75"/>
                </a:solidFill>
                <a:latin typeface="Arial"/>
              </a:rPr>
              <a:t>progress towards your next goal.</a:t>
            </a:r>
            <a:endParaRPr lang="en-GB" sz="2400"/>
          </a:p>
        </p:txBody>
      </p:sp>
      <p:sp>
        <p:nvSpPr>
          <p:cNvPr id="12" name="Panel 12"/>
          <p:cNvSpPr/>
          <p:nvPr/>
        </p:nvSpPr>
        <p:spPr>
          <a:xfrm>
            <a:off x="548640" y="4983480"/>
            <a:ext cx="5394960" cy="640080"/>
          </a:xfrm>
          <a:prstGeom prst="roundRect">
            <a:avLst/>
          </a:prstGeom>
          <a:solidFill>
            <a:srgbClr val="6420B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777240" y="513892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800" b="1">
                <a:solidFill>
                  <a:srgbClr val="FFFFFF"/>
                </a:solidFill>
                <a:latin typeface="Arial"/>
              </a:rPr>
              <a:t>Gmail API + Engine Spaces</a:t>
            </a:r>
            <a:endParaRPr lang="en-GB" sz="1800"/>
          </a:p>
        </p:txBody>
      </p:sp>
      <p:sp>
        <p:nvSpPr>
          <p:cNvPr id="14" name="Panel 14"/>
          <p:cNvSpPr/>
          <p:nvPr/>
        </p:nvSpPr>
        <p:spPr>
          <a:xfrm>
            <a:off x="7406640" y="1645920"/>
            <a:ext cx="420624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15" name="Project logo" descr="Nest by Starling Engine project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06040"/>
            <a:ext cx="3749040" cy="1687068"/>
          </a:xfrm>
          <a:prstGeom prst="rect">
            <a:avLst/>
          </a:prstGeom>
        </p:spPr>
      </p:pic>
      <p:sp>
        <p:nvSpPr>
          <p:cNvPr id="16" name="Text 16"/>
          <p:cNvSpPr txBox="1"/>
          <p:nvPr/>
        </p:nvSpPr>
        <p:spPr>
          <a:xfrm>
            <a:off x="7772400" y="493776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000" b="1">
                <a:solidFill>
                  <a:srgbClr val="6420B3"/>
                </a:solidFill>
                <a:latin typeface="Arial"/>
              </a:rPr>
              <a:t>Your goal starts here.</a:t>
            </a:r>
            <a:endParaRPr lang="en-GB" sz="2000"/>
          </a:p>
        </p:txBody>
      </p:sp>
      <p:sp>
        <p:nvSpPr>
          <p:cNvPr id="90" name="Text 90"/>
          <p:cNvSpPr txBox="1"/>
          <p:nvPr/>
        </p:nvSpPr>
        <p:spPr>
          <a:xfrm>
            <a:off x="548640" y="6400800"/>
            <a:ext cx="100584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000" b="0">
                <a:solidFill>
                  <a:srgbClr val="655A75"/>
                </a:solidFill>
                <a:latin typeface="Arial"/>
              </a:rPr>
              <a:t>Prototype · Gmail API, Engine Spaces and interest boosts are simulated</a:t>
            </a:r>
            <a:endParaRPr lang="en-GB" sz="1000"/>
          </a:p>
        </p:txBody>
      </p:sp>
      <p:sp>
        <p:nvSpPr>
          <p:cNvPr id="91" name="Text 91"/>
          <p:cNvSpPr txBox="1"/>
          <p:nvPr/>
        </p:nvSpPr>
        <p:spPr>
          <a:xfrm>
            <a:off x="11109960" y="640080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000" b="0">
                <a:solidFill>
                  <a:srgbClr val="655A75"/>
                </a:solidFill>
                <a:latin typeface="Arial"/>
              </a:rPr>
              <a:t>01</a:t>
            </a:r>
            <a:endParaRPr lang="en-GB" sz="10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548640" y="521208"/>
            <a:ext cx="438912" cy="54864"/>
          </a:xfrm>
          <a:prstGeom prst="rect">
            <a:avLst/>
          </a:prstGeom>
          <a:solidFill>
            <a:srgbClr val="9A65D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200" b="1">
                <a:solidFill>
                  <a:srgbClr val="655A75"/>
                </a:solidFill>
                <a:latin typeface="Arial"/>
              </a:rPr>
              <a:t>RECURRSAVE  /  INBOX TO INTEREST</a:t>
            </a:r>
            <a:endParaRPr lang="en-GB" sz="1200"/>
          </a:p>
        </p:txBody>
      </p:sp>
      <p:sp>
        <p:nvSpPr>
          <p:cNvPr id="10" name="Text 10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3800" b="1">
                <a:solidFill>
                  <a:srgbClr val="281B3A"/>
                </a:solidFill>
                <a:latin typeface="Arial"/>
              </a:rPr>
              <a:t>A receipt becomes a saving.</a:t>
            </a:r>
            <a:endParaRPr lang="en-GB" sz="3800"/>
          </a:p>
        </p:txBody>
      </p:sp>
      <p:sp>
        <p:nvSpPr>
          <p:cNvPr id="11" name="Text 11"/>
          <p:cNvSpPr txBox="1"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200" b="0">
                <a:solidFill>
                  <a:srgbClr val="655A75"/>
                </a:solidFill>
                <a:latin typeface="Arial"/>
              </a:rPr>
              <a:t>Gmail API → savings rules → Engine Spaces</a:t>
            </a:r>
            <a:endParaRPr lang="en-GB" sz="2200"/>
          </a:p>
        </p:txBody>
      </p:sp>
      <p:sp>
        <p:nvSpPr>
          <p:cNvPr id="20" name="Panel 20"/>
          <p:cNvSpPr/>
          <p:nvPr/>
        </p:nvSpPr>
        <p:spPr>
          <a:xfrm>
            <a:off x="548640" y="329184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804672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300" b="1">
                <a:solidFill>
                  <a:srgbClr val="6420B3"/>
                </a:solidFill>
                <a:latin typeface="Arial"/>
              </a:rPr>
              <a:t>01  GMAIL API</a:t>
            </a:r>
            <a:endParaRPr lang="en-GB" sz="1300"/>
          </a:p>
        </p:txBody>
      </p:sp>
      <p:sp>
        <p:nvSpPr>
          <p:cNvPr id="22" name="Text 22"/>
          <p:cNvSpPr txBox="1"/>
          <p:nvPr/>
        </p:nvSpPr>
        <p:spPr>
          <a:xfrm>
            <a:off x="804672" y="4005072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4000" b="1">
                <a:solidFill>
                  <a:srgbClr val="281B3A"/>
                </a:solidFill>
                <a:latin typeface="Arial"/>
              </a:rPr>
              <a:t>£32.00</a:t>
            </a:r>
            <a:endParaRPr lang="en-GB" sz="4000"/>
          </a:p>
        </p:txBody>
      </p:sp>
      <p:sp>
        <p:nvSpPr>
          <p:cNvPr id="23" name="Text 23"/>
          <p:cNvSpPr txBox="1"/>
          <p:nvPr/>
        </p:nvSpPr>
        <p:spPr>
          <a:xfrm>
            <a:off x="804672" y="4800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500" b="0">
                <a:solidFill>
                  <a:srgbClr val="655A75"/>
                </a:solidFill>
                <a:latin typeface="Arial"/>
              </a:rPr>
              <a:t>Gym receipt (simulated)</a:t>
            </a:r>
            <a:endParaRPr lang="en-GB" sz="1500"/>
          </a:p>
        </p:txBody>
      </p:sp>
      <p:sp>
        <p:nvSpPr>
          <p:cNvPr id="60" name="Text 60"/>
          <p:cNvSpPr txBox="1"/>
          <p:nvPr/>
        </p:nvSpPr>
        <p:spPr>
          <a:xfrm>
            <a:off x="4078224" y="40233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3000" b="1">
                <a:solidFill>
                  <a:srgbClr val="6420B3"/>
                </a:solidFill>
                <a:latin typeface="Arial"/>
              </a:rPr>
              <a:t>›</a:t>
            </a:r>
            <a:endParaRPr lang="en-GB" sz="3000"/>
          </a:p>
        </p:txBody>
      </p:sp>
      <p:sp>
        <p:nvSpPr>
          <p:cNvPr id="25" name="Panel 25"/>
          <p:cNvSpPr/>
          <p:nvPr/>
        </p:nvSpPr>
        <p:spPr>
          <a:xfrm>
            <a:off x="4389120" y="329184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4645152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300" b="1">
                <a:solidFill>
                  <a:srgbClr val="6420B3"/>
                </a:solidFill>
                <a:latin typeface="Arial"/>
              </a:rPr>
              <a:t>02  SAVINGS RULE</a:t>
            </a:r>
            <a:endParaRPr lang="en-GB" sz="1300"/>
          </a:p>
        </p:txBody>
      </p:sp>
      <p:sp>
        <p:nvSpPr>
          <p:cNvPr id="27" name="Text 27"/>
          <p:cNvSpPr txBox="1"/>
          <p:nvPr/>
        </p:nvSpPr>
        <p:spPr>
          <a:xfrm>
            <a:off x="4645152" y="4005072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4000" b="1">
                <a:solidFill>
                  <a:srgbClr val="281B3A"/>
                </a:solidFill>
                <a:latin typeface="Arial"/>
              </a:rPr>
              <a:t>10%</a:t>
            </a:r>
            <a:endParaRPr lang="en-GB" sz="4000"/>
          </a:p>
        </p:txBody>
      </p:sp>
      <p:sp>
        <p:nvSpPr>
          <p:cNvPr id="28" name="Text 28"/>
          <p:cNvSpPr txBox="1"/>
          <p:nvPr/>
        </p:nvSpPr>
        <p:spPr>
          <a:xfrm>
            <a:off x="4645152" y="4800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500" b="0">
                <a:solidFill>
                  <a:srgbClr val="655A75"/>
                </a:solidFill>
                <a:latin typeface="Arial"/>
              </a:rPr>
              <a:t>Your chosen match</a:t>
            </a:r>
            <a:endParaRPr lang="en-GB" sz="1500"/>
          </a:p>
        </p:txBody>
      </p:sp>
      <p:sp>
        <p:nvSpPr>
          <p:cNvPr id="61" name="Text 61"/>
          <p:cNvSpPr txBox="1"/>
          <p:nvPr/>
        </p:nvSpPr>
        <p:spPr>
          <a:xfrm>
            <a:off x="7918704" y="40233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3000" b="1">
                <a:solidFill>
                  <a:srgbClr val="6420B3"/>
                </a:solidFill>
                <a:latin typeface="Arial"/>
              </a:rPr>
              <a:t>›</a:t>
            </a:r>
            <a:endParaRPr lang="en-GB" sz="3000"/>
          </a:p>
        </p:txBody>
      </p:sp>
      <p:sp>
        <p:nvSpPr>
          <p:cNvPr id="30" name="Panel 30"/>
          <p:cNvSpPr/>
          <p:nvPr/>
        </p:nvSpPr>
        <p:spPr>
          <a:xfrm>
            <a:off x="8229600" y="3291840"/>
            <a:ext cx="3429000" cy="1965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" name="Text 31"/>
          <p:cNvSpPr txBox="1"/>
          <p:nvPr/>
        </p:nvSpPr>
        <p:spPr>
          <a:xfrm>
            <a:off x="8485632" y="356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300" b="1">
                <a:solidFill>
                  <a:srgbClr val="6420B3"/>
                </a:solidFill>
                <a:latin typeface="Arial"/>
              </a:rPr>
              <a:t>03  ENGINE SPACES</a:t>
            </a:r>
            <a:endParaRPr lang="en-GB" sz="1300"/>
          </a:p>
        </p:txBody>
      </p:sp>
      <p:sp>
        <p:nvSpPr>
          <p:cNvPr id="32" name="Text 32"/>
          <p:cNvSpPr txBox="1"/>
          <p:nvPr/>
        </p:nvSpPr>
        <p:spPr>
          <a:xfrm>
            <a:off x="8485632" y="4005072"/>
            <a:ext cx="292608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4000" b="1">
                <a:solidFill>
                  <a:srgbClr val="281B3A"/>
                </a:solidFill>
                <a:latin typeface="Arial"/>
              </a:rPr>
              <a:t>£3.20</a:t>
            </a:r>
            <a:endParaRPr lang="en-GB" sz="4000"/>
          </a:p>
        </p:txBody>
      </p:sp>
      <p:sp>
        <p:nvSpPr>
          <p:cNvPr id="33" name="Text 33"/>
          <p:cNvSpPr txBox="1"/>
          <p:nvPr/>
        </p:nvSpPr>
        <p:spPr>
          <a:xfrm>
            <a:off x="8485632" y="4800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500" b="0">
                <a:solidFill>
                  <a:srgbClr val="655A75"/>
                </a:solidFill>
                <a:latin typeface="Arial"/>
              </a:rPr>
              <a:t>Goal saving (simulated)</a:t>
            </a:r>
            <a:endParaRPr lang="en-GB" sz="1500"/>
          </a:p>
        </p:txBody>
      </p:sp>
      <p:sp>
        <p:nvSpPr>
          <p:cNvPr id="80" name="Text 80"/>
          <p:cNvSpPr txBox="1"/>
          <p:nvPr/>
        </p:nvSpPr>
        <p:spPr>
          <a:xfrm>
            <a:off x="548640" y="5605272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800" b="0">
                <a:solidFill>
                  <a:srgbClr val="655A75"/>
                </a:solidFill>
                <a:latin typeface="Arial"/>
              </a:rPr>
              <a:t>Budget limits protect essentials. Receipt replay never saves twice.</a:t>
            </a:r>
            <a:endParaRPr lang="en-GB" sz="1800"/>
          </a:p>
        </p:txBody>
      </p:sp>
      <p:sp>
        <p:nvSpPr>
          <p:cNvPr id="90" name="Text 90"/>
          <p:cNvSpPr txBox="1"/>
          <p:nvPr/>
        </p:nvSpPr>
        <p:spPr>
          <a:xfrm>
            <a:off x="548640" y="6400800"/>
            <a:ext cx="100584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000" b="0">
                <a:solidFill>
                  <a:srgbClr val="655A75"/>
                </a:solidFill>
                <a:latin typeface="Arial"/>
              </a:rPr>
              <a:t>Prototype · Gmail API, Engine Spaces and interest boosts are simulated</a:t>
            </a:r>
            <a:endParaRPr lang="en-GB" sz="1000"/>
          </a:p>
        </p:txBody>
      </p:sp>
      <p:sp>
        <p:nvSpPr>
          <p:cNvPr id="91" name="Text 91"/>
          <p:cNvSpPr txBox="1"/>
          <p:nvPr/>
        </p:nvSpPr>
        <p:spPr>
          <a:xfrm>
            <a:off x="11109960" y="640080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000" b="0">
                <a:solidFill>
                  <a:srgbClr val="655A75"/>
                </a:solidFill>
                <a:latin typeface="Arial"/>
              </a:rPr>
              <a:t>02</a:t>
            </a:r>
            <a:endParaRPr lang="en-GB" sz="10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8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2"/>
          <p:cNvSpPr/>
          <p:nvPr/>
        </p:nvSpPr>
        <p:spPr>
          <a:xfrm>
            <a:off x="548640" y="521208"/>
            <a:ext cx="438912" cy="54864"/>
          </a:xfrm>
          <a:prstGeom prst="rect">
            <a:avLst/>
          </a:prstGeom>
          <a:solidFill>
            <a:srgbClr val="9A65DF"/>
          </a:solidFill>
          <a:ln>
            <a:noFill/>
          </a:ln>
        </p:spPr>
      </p:sp>
      <p:sp>
        <p:nvSpPr>
          <p:cNvPr id="3" name="Text 3"/>
          <p:cNvSpPr txBox="1"/>
          <p:nvPr/>
        </p:nvSpPr>
        <p:spPr>
          <a:xfrm>
            <a:off x="548640" y="7772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200" b="1">
                <a:solidFill>
                  <a:srgbClr val="CDBCE0"/>
                </a:solidFill>
                <a:latin typeface="Arial"/>
              </a:rPr>
              <a:t>RECURRSAVE  /  INBOX TO INTEREST</a:t>
            </a:r>
            <a:endParaRPr lang="en-GB" sz="1200"/>
          </a:p>
        </p:txBody>
      </p:sp>
      <p:sp>
        <p:nvSpPr>
          <p:cNvPr id="10" name="Text 10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3800" b="1">
                <a:solidFill>
                  <a:srgbClr val="FFFFFF"/>
                </a:solidFill>
                <a:latin typeface="Arial"/>
              </a:rPr>
              <a:t>Good habits deserve a boost.</a:t>
            </a:r>
            <a:endParaRPr lang="en-GB" sz="3800"/>
          </a:p>
        </p:txBody>
      </p:sp>
      <p:sp>
        <p:nvSpPr>
          <p:cNvPr id="11" name="Text 11"/>
          <p:cNvSpPr txBox="1"/>
          <p:nvPr/>
        </p:nvSpPr>
        <p:spPr>
          <a:xfrm>
            <a:off x="548640" y="237744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400" b="0">
                <a:solidFill>
                  <a:srgbClr val="E9DEF6"/>
                </a:solidFill>
                <a:latin typeface="Arial"/>
              </a:rPr>
              <a:t>10 confirmed days within budget</a:t>
            </a:r>
            <a:endParaRPr lang="en-GB" sz="2400"/>
          </a:p>
          <a:p>
            <a:pPr/>
            <a:r>
              <a:rPr lang="en-GB" sz="2400" b="0">
                <a:solidFill>
                  <a:srgbClr val="E9DEF6"/>
                </a:solidFill>
                <a:latin typeface="Arial"/>
              </a:rPr>
              <a:t>unlock an illustrative interest boost.</a:t>
            </a:r>
            <a:endParaRPr lang="en-GB" sz="2400"/>
          </a:p>
        </p:txBody>
      </p:sp>
      <p:sp>
        <p:nvSpPr>
          <p:cNvPr id="12" name="Panel 12"/>
          <p:cNvSpPr/>
          <p:nvPr/>
        </p:nvSpPr>
        <p:spPr>
          <a:xfrm>
            <a:off x="548640" y="3886200"/>
            <a:ext cx="6675120" cy="1463040"/>
          </a:xfrm>
          <a:prstGeom prst="roundRect">
            <a:avLst/>
          </a:prstGeom>
          <a:solidFill>
            <a:srgbClr val="6420B3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868680" y="4206240"/>
            <a:ext cx="60350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4200" b="1">
                <a:solidFill>
                  <a:srgbClr val="FFFFFF"/>
                </a:solidFill>
                <a:latin typeface="Arial"/>
              </a:rPr>
              <a:t>2.00%  →  2.01%</a:t>
            </a:r>
            <a:endParaRPr lang="en-GB" sz="4200"/>
          </a:p>
        </p:txBody>
      </p:sp>
      <p:sp>
        <p:nvSpPr>
          <p:cNvPr id="14" name="Text 14"/>
          <p:cNvSpPr txBox="1"/>
          <p:nvPr/>
        </p:nvSpPr>
        <p:spPr>
          <a:xfrm>
            <a:off x="548640" y="56235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000" b="1">
                <a:solidFill>
                  <a:srgbClr val="FFFFFF"/>
                </a:solidFill>
                <a:latin typeface="Arial"/>
              </a:rPr>
              <a:t>Try it: set a goal → simulate a receipt → complete a streak.</a:t>
            </a:r>
            <a:endParaRPr lang="en-GB" sz="2000"/>
          </a:p>
        </p:txBody>
      </p:sp>
      <p:sp>
        <p:nvSpPr>
          <p:cNvPr id="15" name="Panel 15"/>
          <p:cNvSpPr/>
          <p:nvPr/>
        </p:nvSpPr>
        <p:spPr>
          <a:xfrm>
            <a:off x="7909560" y="2423160"/>
            <a:ext cx="3703320" cy="2926080"/>
          </a:xfrm>
          <a:prstGeom prst="roundRect">
            <a:avLst/>
          </a:prstGeom>
          <a:solidFill>
            <a:srgbClr val="3B2852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183880" y="269748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000" b="1">
                <a:solidFill>
                  <a:srgbClr val="FFFFFF"/>
                </a:solidFill>
                <a:latin typeface="Arial"/>
              </a:rPr>
              <a:t>Built for everyday use</a:t>
            </a:r>
            <a:endParaRPr lang="en-GB" sz="2000"/>
          </a:p>
        </p:txBody>
      </p:sp>
      <p:sp>
        <p:nvSpPr>
          <p:cNvPr id="17" name="Text 17"/>
          <p:cNvSpPr txBox="1"/>
          <p:nvPr/>
        </p:nvSpPr>
        <p:spPr>
          <a:xfrm>
            <a:off x="8183880" y="3429000"/>
            <a:ext cx="310896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2000" b="0">
                <a:solidFill>
                  <a:srgbClr val="E9DEF6"/>
                </a:solidFill>
                <a:latin typeface="Arial"/>
              </a:rPr>
              <a:t>Clear spending limits</a:t>
            </a:r>
            <a:endParaRPr lang="en-GB" sz="2000"/>
          </a:p>
          <a:p>
            <a:pPr/>
            <a:r>
              <a:rPr lang="en-GB" sz="2000" b="0">
                <a:solidFill>
                  <a:srgbClr val="E9DEF6"/>
                </a:solidFill>
                <a:latin typeface="Arial"/>
              </a:rPr>
              <a:t>Visible goal progress</a:t>
            </a:r>
            <a:endParaRPr lang="en-GB" sz="2000"/>
          </a:p>
          <a:p>
            <a:pPr/>
            <a:r>
              <a:rPr lang="en-GB" sz="2000" b="0">
                <a:solidFill>
                  <a:srgbClr val="E9DEF6"/>
                </a:solidFill>
                <a:latin typeface="Arial"/>
              </a:rPr>
              <a:t>Accessibility controls</a:t>
            </a:r>
            <a:endParaRPr lang="en-GB" sz="2000"/>
          </a:p>
        </p:txBody>
      </p:sp>
      <p:sp>
        <p:nvSpPr>
          <p:cNvPr id="90" name="Text 90"/>
          <p:cNvSpPr txBox="1"/>
          <p:nvPr/>
        </p:nvSpPr>
        <p:spPr>
          <a:xfrm>
            <a:off x="548640" y="6400800"/>
            <a:ext cx="100584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000" b="0">
                <a:solidFill>
                  <a:srgbClr val="CDBCE0"/>
                </a:solidFill>
                <a:latin typeface="Arial"/>
              </a:rPr>
              <a:t>Prototype · Gmail API, Engine Spaces and interest boosts are simulated</a:t>
            </a:r>
            <a:endParaRPr lang="en-GB" sz="1000"/>
          </a:p>
        </p:txBody>
      </p:sp>
      <p:sp>
        <p:nvSpPr>
          <p:cNvPr id="91" name="Text 91"/>
          <p:cNvSpPr txBox="1"/>
          <p:nvPr/>
        </p:nvSpPr>
        <p:spPr>
          <a:xfrm>
            <a:off x="11109960" y="6400800"/>
            <a:ext cx="457200" cy="2103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/>
            <a:r>
              <a:rPr lang="en-GB" sz="1000" b="0">
                <a:solidFill>
                  <a:srgbClr val="CDBCE0"/>
                </a:solidFill>
                <a:latin typeface="Arial"/>
              </a:rPr>
              <a:t>03</a:t>
            </a:r>
            <a:endParaRPr lang="en-GB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urrSave">
  <a:themeElements>
    <a:clrScheme name="RecurrSave">
      <a:dk1>
        <a:srgbClr val="281B3A"/>
      </a:dk1>
      <a:lt1>
        <a:srgbClr val="FFFFFF"/>
      </a:lt1>
      <a:dk2>
        <a:srgbClr val="655A75"/>
      </a:dk2>
      <a:lt2>
        <a:srgbClr val="F7F4FC"/>
      </a:lt2>
      <a:accent1>
        <a:srgbClr val="6420B3"/>
      </a:accent1>
      <a:accent2>
        <a:srgbClr val="9A65DF"/>
      </a:accent2>
      <a:accent3>
        <a:srgbClr val="EFE7F9"/>
      </a:accent3>
      <a:accent4>
        <a:srgbClr val="F8EEE5"/>
      </a:accent4>
      <a:accent5>
        <a:srgbClr val="3B2852"/>
      </a:accent5>
      <a:accent6>
        <a:srgbClr val="DDD3E9"/>
      </a:accent6>
      <a:hlink>
        <a:srgbClr val="6420B3"/>
      </a:hlink>
      <a:folHlink>
        <a:srgbClr val="9A65D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RecurrSav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